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5FE8-2DCE-163A-DFE2-0897DE9B7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CC089-FDF3-7C0E-6859-B2A8B9AAD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3CB82-576C-2FDF-510B-99845417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45E-A1F6-48C1-BC1F-7C4B889A378D}" type="datetimeFigureOut">
              <a:rPr lang="en-GB" smtClean="0"/>
              <a:t>25/07/2026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8FAFE-D904-E214-412B-5A185D9A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640BF-9B81-E6BF-95B0-7D268C509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E404-0A47-4556-BA10-409A5C551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21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22B47-71FD-389D-03C3-C9E0E6A65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F6099-1DFA-3727-38E9-ABDE54526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99300-632B-6468-BF27-049340542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45E-A1F6-48C1-BC1F-7C4B889A378D}" type="datetimeFigureOut">
              <a:rPr lang="en-GB" smtClean="0"/>
              <a:t>25/07/2026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6A10D-9722-A942-B3EC-178DA0F2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F6FC8-2514-B371-698D-8E1F4559B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E404-0A47-4556-BA10-409A5C551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105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D8A2-2854-34F3-0850-53DD34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F2D4E-0A6D-E84E-D9B7-9B0E7FF66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8A57F-4733-ABEA-F00E-DB41FAE4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45E-A1F6-48C1-BC1F-7C4B889A378D}" type="datetimeFigureOut">
              <a:rPr lang="en-GB" smtClean="0"/>
              <a:t>25/07/2026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639F4-FFA4-5C67-923C-C25D291DF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96060-9E0B-9754-0DFC-3E4DBC05C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E404-0A47-4556-BA10-409A5C551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07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1CFD-C279-5854-FD11-504F3E446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1BDDF-D152-1FE3-9448-760354B81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5AC96-2016-590D-E6E6-31DEEE132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307FE-6772-E25A-23E9-E2F17C35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45E-A1F6-48C1-BC1F-7C4B889A378D}" type="datetimeFigureOut">
              <a:rPr lang="en-GB" smtClean="0"/>
              <a:t>25/07/2026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6747E-6F4D-43FD-4D7C-601C56F78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3D8BA-D4ED-D2EE-5B16-AAAD4BD94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E404-0A47-4556-BA10-409A5C551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132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CC1A2-1962-1E00-2594-E0E5BE68E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C8F9A-6EB7-B421-43AE-844D62A84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FC320-33A6-D278-4B2C-68FE74E19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CEAD6-2F44-EB5A-D103-C9FFC107C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73A16F-5CB1-783A-3B75-B3D9D359A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5490E1-ABA2-033B-9FB0-30F43EB2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45E-A1F6-48C1-BC1F-7C4B889A378D}" type="datetimeFigureOut">
              <a:rPr lang="en-GB" smtClean="0"/>
              <a:t>25/07/2026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CAD6CD-DA43-1224-FB76-51AA8DF8E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54BE1-B72C-3579-4733-5436B02E5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E404-0A47-4556-BA10-409A5C551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649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B5CC-8475-F92D-7736-2B6F202F0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CB1F0C-F736-58EC-25C4-FCBF29344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45E-A1F6-48C1-BC1F-7C4B889A378D}" type="datetimeFigureOut">
              <a:rPr lang="en-GB" smtClean="0"/>
              <a:t>25/07/2026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9D5E85-FB68-4AB7-CAE7-9BB4431B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0077E-CA0A-F61C-062C-380DBD11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E404-0A47-4556-BA10-409A5C551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550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1483E4-12E9-4594-2EBB-2412BA89C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45E-A1F6-48C1-BC1F-7C4B889A378D}" type="datetimeFigureOut">
              <a:rPr lang="en-GB" smtClean="0"/>
              <a:t>25/07/2026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93829-7194-F76A-DC6C-50D365E0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2D8B8-10F3-0EF0-82C6-91210A87E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E404-0A47-4556-BA10-409A5C551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13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68DE7-3700-FCAE-D831-E17BF6F4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531D9-FEDF-F6F7-49D6-A39B4BAFF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DCBE6-48C1-37A2-1088-D4D2F054A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0F6CB-7DD4-CA7E-7CD6-6698EB7C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45E-A1F6-48C1-BC1F-7C4B889A378D}" type="datetimeFigureOut">
              <a:rPr lang="en-GB" smtClean="0"/>
              <a:t>25/07/2026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A2EE1-5F13-4D68-C9C8-AD015EC1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3ABA1-FB1E-1718-81C1-32F9CAB7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E404-0A47-4556-BA10-409A5C551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68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00B3-908F-567A-7886-E0F2C7D3E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55CF83-7FC4-8E67-3F97-FF46A6674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420C5-EA67-0B4B-8146-43B37EEB0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6BDE0-C5C2-1394-1150-7D1AC42A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45E-A1F6-48C1-BC1F-7C4B889A378D}" type="datetimeFigureOut">
              <a:rPr lang="en-GB" smtClean="0"/>
              <a:t>25/07/2026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BB72B-8DCB-D08A-0028-1DEF9751A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64A25-D90F-9426-2845-576D7624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E404-0A47-4556-BA10-409A5C551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437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9E80F-6FEC-3F17-A54E-DAF31FA19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94BB7-F791-5942-0E2F-6B9CA45B4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6D468-C503-9FA3-3185-E396CC637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45E-A1F6-48C1-BC1F-7C4B889A378D}" type="datetimeFigureOut">
              <a:rPr lang="en-GB" smtClean="0"/>
              <a:t>25/07/2026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FE2C-7371-E555-8FA8-817EEE63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2A647-CA9F-8E12-A279-6117E0BD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E404-0A47-4556-BA10-409A5C551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606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347C0-F150-9BAE-5778-53571201BA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34C44-FB8A-B219-BB9A-12BDAF749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28A0A-9833-86CE-8D1E-A573EF744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45E-A1F6-48C1-BC1F-7C4B889A378D}" type="datetimeFigureOut">
              <a:rPr lang="en-GB" smtClean="0"/>
              <a:t>25/07/2026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B675E-E72B-2800-4FEF-9AE36F31A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C0E7F-F7A6-2A6E-6AA7-EAF244CD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CE404-0A47-4556-BA10-409A5C551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806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2A6098-C58F-7407-13F1-6ADFF7EC0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274D1-47D5-1602-5BDD-17CACF922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97144-3801-F579-A78C-068FAE07F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A1D45E-A1F6-48C1-BC1F-7C4B889A378D}" type="datetimeFigureOut">
              <a:rPr lang="en-GB" smtClean="0"/>
              <a:t>25/07/2026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991B4-56E8-14D6-4F72-3781475B9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F383D-28E8-EB85-D19B-D018B166C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CE404-0A47-4556-BA10-409A5C5519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5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A2C7D-1C0A-3AED-3B10-418863C0C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876" y="723776"/>
            <a:ext cx="10515600" cy="2852737"/>
          </a:xfrm>
        </p:spPr>
        <p:txBody>
          <a:bodyPr/>
          <a:lstStyle/>
          <a:p>
            <a:r>
              <a:rPr lang="en-GB" dirty="0" err="1"/>
              <a:t>SeabORD</a:t>
            </a:r>
            <a:r>
              <a:rPr lang="en-GB" dirty="0"/>
              <a:t> modelling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C29EA-CE36-5E25-F648-07A5B49E2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876" y="3603501"/>
            <a:ext cx="10515600" cy="1500187"/>
          </a:xfrm>
        </p:spPr>
        <p:txBody>
          <a:bodyPr/>
          <a:lstStyle/>
          <a:p>
            <a:r>
              <a:rPr lang="en-GB" dirty="0"/>
              <a:t>What value of offal deposited would compensate for detriments of Berwick Bank in terms of reduced productivity and adult survival?</a:t>
            </a:r>
          </a:p>
          <a:p>
            <a:r>
              <a:rPr lang="en-GB" dirty="0"/>
              <a:t>How many chicks would 2000 kg of offal add?</a:t>
            </a:r>
          </a:p>
        </p:txBody>
      </p:sp>
    </p:spTree>
    <p:extLst>
      <p:ext uri="{BB962C8B-B14F-4D97-AF65-F5344CB8AC3E}">
        <p14:creationId xmlns:p14="http://schemas.microsoft.com/office/powerpoint/2010/main" val="2773590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B6B62-07DB-40F0-55FE-44E29103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A4AF3-F416-578E-3F4C-9E73C1B410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err="1"/>
              <a:t>SeabORD</a:t>
            </a:r>
            <a:r>
              <a:rPr lang="en-GB" dirty="0"/>
              <a:t> modified to simulate a daily offal deposition near the Isle of May</a:t>
            </a:r>
          </a:p>
          <a:p>
            <a:r>
              <a:rPr lang="en-GB" dirty="0"/>
              <a:t>Range of scenarios: </a:t>
            </a:r>
          </a:p>
          <a:p>
            <a:pPr lvl="1"/>
            <a:r>
              <a:rPr lang="en-GB" dirty="0"/>
              <a:t>baseline without BB, baseline with BB, treatment with 100 kg increasing in values to 4000 kg of offal deposited (and one run at 8000 kg to check saturation)</a:t>
            </a:r>
          </a:p>
          <a:p>
            <a:r>
              <a:rPr lang="en-GB" dirty="0"/>
              <a:t>Offal added 9 kJ/g over baseline energy (baseline calibrated before treatment runs)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1E48B-9443-96B9-5701-6C9E7F8FE3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Caveats: </a:t>
            </a:r>
          </a:p>
          <a:p>
            <a:pPr lvl="1"/>
            <a:r>
              <a:rPr lang="en-GB" dirty="0" err="1">
                <a:solidFill>
                  <a:srgbClr val="FF0000"/>
                </a:solidFill>
              </a:rPr>
              <a:t>SeabORD</a:t>
            </a:r>
            <a:r>
              <a:rPr lang="en-GB" dirty="0">
                <a:solidFill>
                  <a:srgbClr val="FF0000"/>
                </a:solidFill>
              </a:rPr>
              <a:t> has very long run times; simulation done with 10% of population; 20 repetitions for baseline and 10 repetitions for treatments </a:t>
            </a:r>
            <a:r>
              <a:rPr lang="en-GB" b="1" dirty="0">
                <a:solidFill>
                  <a:srgbClr val="FF0000"/>
                </a:solidFill>
              </a:rPr>
              <a:t>(&gt;6 days run time</a:t>
            </a:r>
            <a:r>
              <a:rPr lang="en-GB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Number of birds accessing offal was determined by how many ‘meals’ each offal treatment could provide, assuming 80% offal availability due to interspecies competition and 280 g/day requirement for KI</a:t>
            </a:r>
          </a:p>
        </p:txBody>
      </p:sp>
    </p:spTree>
    <p:extLst>
      <p:ext uri="{BB962C8B-B14F-4D97-AF65-F5344CB8AC3E}">
        <p14:creationId xmlns:p14="http://schemas.microsoft.com/office/powerpoint/2010/main" val="2590799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97A6-553E-62D8-1367-5219EAD4E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Methods – </a:t>
            </a:r>
            <a:r>
              <a:rPr lang="en-GB" dirty="0" err="1"/>
              <a:t>con’t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4CE7B-8FB5-28C2-804F-73B33E12F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Originally planned to add offal to 10 1km x 1km cells near the colony in a transect line</a:t>
            </a:r>
          </a:p>
          <a:p>
            <a:r>
              <a:rPr lang="en-GB" dirty="0"/>
              <a:t>However, in this setup, birds rarely encountered offal </a:t>
            </a:r>
            <a:r>
              <a:rPr lang="en-GB" dirty="0" err="1"/>
              <a:t>desposits</a:t>
            </a:r>
            <a:endParaRPr lang="en-GB" dirty="0"/>
          </a:p>
          <a:p>
            <a:r>
              <a:rPr lang="en-GB" dirty="0"/>
              <a:t>Instead, offal added in one 1km x 1km cell and a certain proportion of birds forced to forage there (based on how much offal was available, meaning:</a:t>
            </a:r>
          </a:p>
          <a:p>
            <a:endParaRPr lang="en-GB" dirty="0"/>
          </a:p>
          <a:p>
            <a:r>
              <a:rPr lang="en-GB" b="1" dirty="0"/>
              <a:t>Assumption</a:t>
            </a:r>
            <a:r>
              <a:rPr lang="en-GB" dirty="0"/>
              <a:t>: The maximum number of birds that an offal deposit supports foraged at the offal location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28462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661A-48BC-7364-F97C-3F480D08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66" y="2766218"/>
            <a:ext cx="2151490" cy="1325563"/>
          </a:xfrm>
        </p:spPr>
        <p:txBody>
          <a:bodyPr/>
          <a:lstStyle/>
          <a:p>
            <a:r>
              <a:rPr lang="en-GB" dirty="0"/>
              <a:t>Results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8281F-842A-16CA-6D22-0205AD2EC48A}"/>
              </a:ext>
            </a:extLst>
          </p:cNvPr>
          <p:cNvCxnSpPr>
            <a:cxnSpLocks/>
          </p:cNvCxnSpPr>
          <p:nvPr/>
        </p:nvCxnSpPr>
        <p:spPr>
          <a:xfrm>
            <a:off x="2210463" y="339917"/>
            <a:ext cx="0" cy="61781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13999AF1-5DFB-C3D3-9E73-DCDF17C73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935" y="1828790"/>
            <a:ext cx="8686818" cy="5029210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7679EA5-CE55-6A1D-F00B-4AA0DDB6A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417293"/>
              </p:ext>
            </p:extLst>
          </p:nvPr>
        </p:nvGraphicFramePr>
        <p:xfrm>
          <a:off x="2876935" y="247701"/>
          <a:ext cx="8103153" cy="15379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9548">
                  <a:extLst>
                    <a:ext uri="{9D8B030D-6E8A-4147-A177-3AD203B41FA5}">
                      <a16:colId xmlns:a16="http://schemas.microsoft.com/office/drawing/2014/main" val="139640421"/>
                    </a:ext>
                  </a:extLst>
                </a:gridCol>
                <a:gridCol w="1773716">
                  <a:extLst>
                    <a:ext uri="{9D8B030D-6E8A-4147-A177-3AD203B41FA5}">
                      <a16:colId xmlns:a16="http://schemas.microsoft.com/office/drawing/2014/main" val="3798474145"/>
                    </a:ext>
                  </a:extLst>
                </a:gridCol>
                <a:gridCol w="1942250">
                  <a:extLst>
                    <a:ext uri="{9D8B030D-6E8A-4147-A177-3AD203B41FA5}">
                      <a16:colId xmlns:a16="http://schemas.microsoft.com/office/drawing/2014/main" val="23535660"/>
                    </a:ext>
                  </a:extLst>
                </a:gridCol>
                <a:gridCol w="1215151">
                  <a:extLst>
                    <a:ext uri="{9D8B030D-6E8A-4147-A177-3AD203B41FA5}">
                      <a16:colId xmlns:a16="http://schemas.microsoft.com/office/drawing/2014/main" val="3316051896"/>
                    </a:ext>
                  </a:extLst>
                </a:gridCol>
                <a:gridCol w="1882488">
                  <a:extLst>
                    <a:ext uri="{9D8B030D-6E8A-4147-A177-3AD203B41FA5}">
                      <a16:colId xmlns:a16="http://schemas.microsoft.com/office/drawing/2014/main" val="3758367561"/>
                    </a:ext>
                  </a:extLst>
                </a:gridCol>
              </a:tblGrid>
              <a:tr h="596335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endParaRPr lang="en-GB" sz="1600" b="0" i="0" dirty="0">
                        <a:solidFill>
                          <a:srgbClr val="0B0B0B"/>
                        </a:solidFill>
                        <a:effectLst/>
                        <a:latin typeface="Anthropic Sans"/>
                      </a:endParaRPr>
                    </a:p>
                  </a:txBody>
                  <a:tcPr marL="47079" marR="47079" marT="47079" marB="4707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Without Berwick Bank</a:t>
                      </a:r>
                    </a:p>
                  </a:txBody>
                  <a:tcPr marL="47079" marR="47079" marT="47079" marB="4707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With Berwick Bank, no offal</a:t>
                      </a:r>
                    </a:p>
                  </a:txBody>
                  <a:tcPr marL="47079" marR="47079" marT="47079" marB="4707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+ 2000 kg offal/day</a:t>
                      </a:r>
                    </a:p>
                  </a:txBody>
                  <a:tcPr marL="47079" marR="47079" marT="47079" marB="4707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change</a:t>
                      </a:r>
                    </a:p>
                  </a:txBody>
                  <a:tcPr marL="47079" marR="47079" marT="47079" marB="47079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769568"/>
                  </a:ext>
                </a:extLst>
              </a:tr>
              <a:tr h="345247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Productivity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0.5434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0.4734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0.7922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+0.319/nest (+67%)</a:t>
                      </a:r>
                    </a:p>
                  </a:txBody>
                  <a:tcPr marL="47079" marR="47079" marT="47079" marB="47079"/>
                </a:tc>
                <a:extLst>
                  <a:ext uri="{0D108BD9-81ED-4DB2-BD59-A6C34878D82A}">
                    <a16:rowId xmlns:a16="http://schemas.microsoft.com/office/drawing/2014/main" val="3595599994"/>
                  </a:ext>
                </a:extLst>
              </a:tr>
              <a:tr h="596335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Adult survival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0.7986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0.7957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0.8754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+0.080 (band method: +0.043)</a:t>
                      </a:r>
                    </a:p>
                  </a:txBody>
                  <a:tcPr marL="47079" marR="47079" marT="47079" marB="47079"/>
                </a:tc>
                <a:extLst>
                  <a:ext uri="{0D108BD9-81ED-4DB2-BD59-A6C34878D82A}">
                    <a16:rowId xmlns:a16="http://schemas.microsoft.com/office/drawing/2014/main" val="244442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445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9B363-EC75-772E-075D-AAEFFFBB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9AE12-3F48-14CB-2EDD-CCDBD40B6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66" y="2766218"/>
            <a:ext cx="2151490" cy="1325563"/>
          </a:xfrm>
        </p:spPr>
        <p:txBody>
          <a:bodyPr/>
          <a:lstStyle/>
          <a:p>
            <a:r>
              <a:rPr lang="en-GB" dirty="0"/>
              <a:t>Results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26B7D44-8F7A-66ED-71C9-9E7990651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323678"/>
              </p:ext>
            </p:extLst>
          </p:nvPr>
        </p:nvGraphicFramePr>
        <p:xfrm>
          <a:off x="2876935" y="247701"/>
          <a:ext cx="8103153" cy="15379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9548">
                  <a:extLst>
                    <a:ext uri="{9D8B030D-6E8A-4147-A177-3AD203B41FA5}">
                      <a16:colId xmlns:a16="http://schemas.microsoft.com/office/drawing/2014/main" val="139640421"/>
                    </a:ext>
                  </a:extLst>
                </a:gridCol>
                <a:gridCol w="1773716">
                  <a:extLst>
                    <a:ext uri="{9D8B030D-6E8A-4147-A177-3AD203B41FA5}">
                      <a16:colId xmlns:a16="http://schemas.microsoft.com/office/drawing/2014/main" val="3798474145"/>
                    </a:ext>
                  </a:extLst>
                </a:gridCol>
                <a:gridCol w="1942250">
                  <a:extLst>
                    <a:ext uri="{9D8B030D-6E8A-4147-A177-3AD203B41FA5}">
                      <a16:colId xmlns:a16="http://schemas.microsoft.com/office/drawing/2014/main" val="23535660"/>
                    </a:ext>
                  </a:extLst>
                </a:gridCol>
                <a:gridCol w="1215151">
                  <a:extLst>
                    <a:ext uri="{9D8B030D-6E8A-4147-A177-3AD203B41FA5}">
                      <a16:colId xmlns:a16="http://schemas.microsoft.com/office/drawing/2014/main" val="3316051896"/>
                    </a:ext>
                  </a:extLst>
                </a:gridCol>
                <a:gridCol w="1882488">
                  <a:extLst>
                    <a:ext uri="{9D8B030D-6E8A-4147-A177-3AD203B41FA5}">
                      <a16:colId xmlns:a16="http://schemas.microsoft.com/office/drawing/2014/main" val="3758367561"/>
                    </a:ext>
                  </a:extLst>
                </a:gridCol>
              </a:tblGrid>
              <a:tr h="596335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endParaRPr lang="en-GB" sz="1600" b="0" i="0" dirty="0">
                        <a:solidFill>
                          <a:srgbClr val="0B0B0B"/>
                        </a:solidFill>
                        <a:effectLst/>
                        <a:latin typeface="Anthropic Sans"/>
                      </a:endParaRPr>
                    </a:p>
                  </a:txBody>
                  <a:tcPr marL="47079" marR="47079" marT="47079" marB="4707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Without Berwick Bank</a:t>
                      </a:r>
                    </a:p>
                  </a:txBody>
                  <a:tcPr marL="47079" marR="47079" marT="47079" marB="4707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With Berwick Bank, no offal</a:t>
                      </a:r>
                    </a:p>
                  </a:txBody>
                  <a:tcPr marL="47079" marR="47079" marT="47079" marB="4707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+ 2000 kg offal/day</a:t>
                      </a:r>
                    </a:p>
                  </a:txBody>
                  <a:tcPr marL="47079" marR="47079" marT="47079" marB="47079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change</a:t>
                      </a:r>
                    </a:p>
                  </a:txBody>
                  <a:tcPr marL="47079" marR="47079" marT="47079" marB="47079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769568"/>
                  </a:ext>
                </a:extLst>
              </a:tr>
              <a:tr h="345247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Productivity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0.5434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0.4734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0.7922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+0.319/nest (+67%)</a:t>
                      </a:r>
                    </a:p>
                  </a:txBody>
                  <a:tcPr marL="47079" marR="47079" marT="47079" marB="47079"/>
                </a:tc>
                <a:extLst>
                  <a:ext uri="{0D108BD9-81ED-4DB2-BD59-A6C34878D82A}">
                    <a16:rowId xmlns:a16="http://schemas.microsoft.com/office/drawing/2014/main" val="3595599994"/>
                  </a:ext>
                </a:extLst>
              </a:tr>
              <a:tr h="596335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Adult survival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0.7986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0.7957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0.8754</a:t>
                      </a:r>
                    </a:p>
                  </a:txBody>
                  <a:tcPr marL="47079" marR="47079" marT="47079" marB="4707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GB" sz="1600" b="0" i="0" dirty="0">
                          <a:solidFill>
                            <a:srgbClr val="0B0B0B"/>
                          </a:solidFill>
                          <a:effectLst/>
                          <a:latin typeface="Anthropic Sans"/>
                        </a:rPr>
                        <a:t>+0.080 (band method: +0.043)</a:t>
                      </a:r>
                    </a:p>
                  </a:txBody>
                  <a:tcPr marL="47079" marR="47079" marT="47079" marB="47079"/>
                </a:tc>
                <a:extLst>
                  <a:ext uri="{0D108BD9-81ED-4DB2-BD59-A6C34878D82A}">
                    <a16:rowId xmlns:a16="http://schemas.microsoft.com/office/drawing/2014/main" val="2444425595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C1AEF5-B24A-CE38-F1A9-1FBA4870ADEB}"/>
              </a:ext>
            </a:extLst>
          </p:cNvPr>
          <p:cNvCxnSpPr>
            <a:cxnSpLocks/>
          </p:cNvCxnSpPr>
          <p:nvPr/>
        </p:nvCxnSpPr>
        <p:spPr>
          <a:xfrm>
            <a:off x="2210463" y="339917"/>
            <a:ext cx="0" cy="61781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C2F4957-99CF-520B-51DE-E20262A8A534}"/>
              </a:ext>
            </a:extLst>
          </p:cNvPr>
          <p:cNvSpPr txBox="1"/>
          <p:nvPr/>
        </p:nvSpPr>
        <p:spPr>
          <a:xfrm>
            <a:off x="2887812" y="3868326"/>
            <a:ext cx="42082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 i="1" dirty="0">
                <a:solidFill>
                  <a:srgbClr val="0B0B0B"/>
                </a:solidFill>
                <a:effectLst/>
                <a:latin typeface="Anthropic Sans"/>
              </a:rPr>
              <a:t>"Proportion of adult birds surviving a moderate year (including winter)“</a:t>
            </a:r>
            <a:endParaRPr lang="en-GB" sz="2000" dirty="0">
              <a:solidFill>
                <a:srgbClr val="0B0B0B"/>
              </a:solidFill>
              <a:latin typeface="Anthropic Sans"/>
            </a:endParaRPr>
          </a:p>
          <a:p>
            <a:r>
              <a:rPr lang="en-GB" sz="2000" b="0" i="0" dirty="0">
                <a:solidFill>
                  <a:srgbClr val="0B0B0B"/>
                </a:solidFill>
                <a:effectLst/>
                <a:latin typeface="Anthropic Sans"/>
              </a:rPr>
              <a:t>79.6% → 87.5% of adults survive the year. 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0C833-A499-B993-7B51-B4BF401450B1}"/>
              </a:ext>
            </a:extLst>
          </p:cNvPr>
          <p:cNvSpPr txBox="1"/>
          <p:nvPr/>
        </p:nvSpPr>
        <p:spPr>
          <a:xfrm>
            <a:off x="6639009" y="2412275"/>
            <a:ext cx="46597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 i="1" dirty="0">
                <a:solidFill>
                  <a:srgbClr val="0B0B0B"/>
                </a:solidFill>
                <a:effectLst/>
                <a:latin typeface="Anthropic Sans"/>
              </a:rPr>
              <a:t>“Nest success proportion”</a:t>
            </a:r>
          </a:p>
          <a:p>
            <a:r>
              <a:rPr lang="en-GB" sz="2000" dirty="0">
                <a:solidFill>
                  <a:srgbClr val="0B0B0B"/>
                </a:solidFill>
                <a:latin typeface="Anthropic Sans"/>
              </a:rPr>
              <a:t>47.3% → 79.2% of pairs fledging a chick. </a:t>
            </a:r>
          </a:p>
          <a:p>
            <a:r>
              <a:rPr lang="en-GB" sz="2000" dirty="0">
                <a:solidFill>
                  <a:srgbClr val="0B0B0B"/>
                </a:solidFill>
                <a:latin typeface="Anthropic Sans"/>
              </a:rPr>
              <a:t>In this simulation, translates to approximately </a:t>
            </a:r>
            <a:r>
              <a:rPr lang="en-GB" sz="2000" b="1" dirty="0">
                <a:solidFill>
                  <a:srgbClr val="0B0B0B"/>
                </a:solidFill>
                <a:latin typeface="Anthropic Sans"/>
              </a:rPr>
              <a:t>+1,934 chicks</a:t>
            </a:r>
            <a:endParaRPr lang="en-GB" sz="2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A5D7BE-7F74-A304-9331-7872C8A973C3}"/>
              </a:ext>
            </a:extLst>
          </p:cNvPr>
          <p:cNvCxnSpPr/>
          <p:nvPr/>
        </p:nvCxnSpPr>
        <p:spPr>
          <a:xfrm flipH="1" flipV="1">
            <a:off x="4031311" y="1089329"/>
            <a:ext cx="2464905" cy="1463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DA72D9D-A521-D0C1-8307-7C0FA08A8B97}"/>
              </a:ext>
            </a:extLst>
          </p:cNvPr>
          <p:cNvCxnSpPr>
            <a:cxnSpLocks/>
          </p:cNvCxnSpPr>
          <p:nvPr/>
        </p:nvCxnSpPr>
        <p:spPr>
          <a:xfrm flipH="1" flipV="1">
            <a:off x="3631095" y="1526634"/>
            <a:ext cx="477408" cy="2274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48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2B2C8-F8E0-05BE-0A16-97603EC51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B445C-01D9-DB37-E900-4816EE36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66" y="2766218"/>
            <a:ext cx="2151490" cy="1325563"/>
          </a:xfrm>
        </p:spPr>
        <p:txBody>
          <a:bodyPr/>
          <a:lstStyle/>
          <a:p>
            <a:r>
              <a:rPr lang="en-GB" dirty="0"/>
              <a:t>Results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3BD53B-0D9C-1E95-C03B-916BA771B0AE}"/>
              </a:ext>
            </a:extLst>
          </p:cNvPr>
          <p:cNvCxnSpPr>
            <a:cxnSpLocks/>
          </p:cNvCxnSpPr>
          <p:nvPr/>
        </p:nvCxnSpPr>
        <p:spPr>
          <a:xfrm>
            <a:off x="2210463" y="339917"/>
            <a:ext cx="0" cy="61781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6256D25D-C395-7F38-BA2B-A66A54632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935" y="1828790"/>
            <a:ext cx="8686818" cy="50292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E8D48B-9645-574C-CEF3-D2851E11C3C8}"/>
              </a:ext>
            </a:extLst>
          </p:cNvPr>
          <p:cNvSpPr txBox="1"/>
          <p:nvPr/>
        </p:nvSpPr>
        <p:spPr>
          <a:xfrm>
            <a:off x="2979420" y="685800"/>
            <a:ext cx="693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Berwick Bank compensated at approximately 327 kg/day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C638F13-122E-D221-FA64-21E97E80EF99}"/>
              </a:ext>
            </a:extLst>
          </p:cNvPr>
          <p:cNvCxnSpPr/>
          <p:nvPr/>
        </p:nvCxnSpPr>
        <p:spPr>
          <a:xfrm>
            <a:off x="4152900" y="1036320"/>
            <a:ext cx="91440" cy="41452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18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01B3-E2CF-2992-2B26-26595E5E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6440-5D41-36CC-29B2-B35A46901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66" y="2766218"/>
            <a:ext cx="2151490" cy="1325563"/>
          </a:xfrm>
        </p:spPr>
        <p:txBody>
          <a:bodyPr/>
          <a:lstStyle/>
          <a:p>
            <a:r>
              <a:rPr lang="en-GB" dirty="0"/>
              <a:t>Results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DD5C4D-2FBD-6128-B333-2F380616CA4D}"/>
              </a:ext>
            </a:extLst>
          </p:cNvPr>
          <p:cNvCxnSpPr>
            <a:cxnSpLocks/>
          </p:cNvCxnSpPr>
          <p:nvPr/>
        </p:nvCxnSpPr>
        <p:spPr>
          <a:xfrm>
            <a:off x="2210463" y="339917"/>
            <a:ext cx="0" cy="61781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E2FEF5C3-9128-1D71-83B5-E5A60A990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935" y="1828790"/>
            <a:ext cx="8686818" cy="50292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7A1DC3-30E6-0A88-108D-86EF1BC09318}"/>
              </a:ext>
            </a:extLst>
          </p:cNvPr>
          <p:cNvSpPr txBox="1"/>
          <p:nvPr/>
        </p:nvSpPr>
        <p:spPr>
          <a:xfrm>
            <a:off x="2979420" y="434340"/>
            <a:ext cx="6934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Most of this benefit comes from the fact that the simulation forces an increasing percentage of the population to forage close to the colony (at the offal deposit) → less travel distance/barrier effects</a:t>
            </a:r>
          </a:p>
        </p:txBody>
      </p:sp>
    </p:spTree>
    <p:extLst>
      <p:ext uri="{BB962C8B-B14F-4D97-AF65-F5344CB8AC3E}">
        <p14:creationId xmlns:p14="http://schemas.microsoft.com/office/powerpoint/2010/main" val="2938350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0D6C2-E83F-CC0E-A416-3A877C570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2E8C7-B64D-8C17-4722-61211978B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66" y="2766218"/>
            <a:ext cx="2151490" cy="1325563"/>
          </a:xfrm>
        </p:spPr>
        <p:txBody>
          <a:bodyPr/>
          <a:lstStyle/>
          <a:p>
            <a:r>
              <a:rPr lang="en-GB" dirty="0"/>
              <a:t>Results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3A3024-9A51-36CD-719B-70ADFBE62E49}"/>
              </a:ext>
            </a:extLst>
          </p:cNvPr>
          <p:cNvCxnSpPr>
            <a:cxnSpLocks/>
          </p:cNvCxnSpPr>
          <p:nvPr/>
        </p:nvCxnSpPr>
        <p:spPr>
          <a:xfrm>
            <a:off x="2210463" y="339917"/>
            <a:ext cx="0" cy="61781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C9C293C-0A53-13C0-66CD-9B5C2E5FE246}"/>
              </a:ext>
            </a:extLst>
          </p:cNvPr>
          <p:cNvSpPr txBox="1"/>
          <p:nvPr/>
        </p:nvSpPr>
        <p:spPr>
          <a:xfrm>
            <a:off x="2979420" y="434340"/>
            <a:ext cx="6934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Most of this benefit comes from the fact that the simulation forces an increasing percentage of the population to forage close to the colony (at the offal deposit) → less travel distance/barrier effects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A4B1E-CD19-7FE1-0729-4FA674CC521D}"/>
              </a:ext>
            </a:extLst>
          </p:cNvPr>
          <p:cNvSpPr txBox="1"/>
          <p:nvPr/>
        </p:nvSpPr>
        <p:spPr>
          <a:xfrm>
            <a:off x="2979419" y="2529840"/>
            <a:ext cx="6934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Further simulations needed: </a:t>
            </a:r>
          </a:p>
          <a:p>
            <a:pPr marL="285750" indent="-285750">
              <a:buFontTx/>
              <a:buChar char="-"/>
            </a:pPr>
            <a:r>
              <a:rPr lang="en-GB" b="1" dirty="0">
                <a:solidFill>
                  <a:srgbClr val="FF0000"/>
                </a:solidFill>
              </a:rPr>
              <a:t>Varying offal kg deposits and varying distances from the colony</a:t>
            </a:r>
          </a:p>
          <a:p>
            <a:pPr marL="285750" indent="-285750">
              <a:buFontTx/>
              <a:buChar char="-"/>
            </a:pPr>
            <a:r>
              <a:rPr lang="en-GB" b="1" dirty="0">
                <a:solidFill>
                  <a:srgbClr val="FF0000"/>
                </a:solidFill>
              </a:rPr>
              <a:t>Stochastic values of # of birds foraging at offal deposit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EF5724-380B-9CF9-6177-98DAF4FDE7AF}"/>
              </a:ext>
            </a:extLst>
          </p:cNvPr>
          <p:cNvSpPr txBox="1"/>
          <p:nvPr/>
        </p:nvSpPr>
        <p:spPr>
          <a:xfrm>
            <a:off x="2979418" y="4267200"/>
            <a:ext cx="6934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Tests should be re-run with higher repetitions for stronger power (&gt;20 repetitions rather than current 10 per treatment) – run times increase substantially. Initial numbers should be treated as preliminary. </a:t>
            </a:r>
          </a:p>
        </p:txBody>
      </p:sp>
    </p:spTree>
    <p:extLst>
      <p:ext uri="{BB962C8B-B14F-4D97-AF65-F5344CB8AC3E}">
        <p14:creationId xmlns:p14="http://schemas.microsoft.com/office/powerpoint/2010/main" val="41912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CCAB6487C57945818A25ED112AADB5" ma:contentTypeVersion="4" ma:contentTypeDescription="Create a new document." ma:contentTypeScope="" ma:versionID="6545bb746ff579798e6af85626574804">
  <xsd:schema xmlns:xsd="http://www.w3.org/2001/XMLSchema" xmlns:xs="http://www.w3.org/2001/XMLSchema" xmlns:p="http://schemas.microsoft.com/office/2006/metadata/properties" xmlns:ns2="988c7490-3e4f-46c2-b372-db9ebde352f5" xmlns:ns3="83a483c6-1744-4003-bbb3-3036ea46c136" xmlns:ns4="ed2e647d-520c-4ff6-8539-83c5985202b8" targetNamespace="http://schemas.microsoft.com/office/2006/metadata/properties" ma:root="true" ma:fieldsID="f50fe2ed0feda17f0556f91ebdda9da7" ns2:_="" ns3:_="" ns4:_="">
    <xsd:import namespace="988c7490-3e4f-46c2-b372-db9ebde352f5"/>
    <xsd:import namespace="83a483c6-1744-4003-bbb3-3036ea46c136"/>
    <xsd:import namespace="ed2e647d-520c-4ff6-8539-83c5985202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PM" minOccurs="0"/>
                <xsd:element ref="ns2:Client" minOccurs="0"/>
                <xsd:element ref="ns2:MediaServiceDateTaken" minOccurs="0"/>
                <xsd:element ref="ns2:MediaServiceLocation" minOccurs="0"/>
                <xsd:element ref="ns2:MediaServiceOCR" minOccurs="0"/>
                <xsd:element ref="ns3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8c7490-3e4f-46c2-b372-db9ebde352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PM" ma:index="15" nillable="true" ma:displayName="PM" ma:format="Dropdown" ma:list="UserInfo" ma:SharePointGroup="0" ma:internalName="PM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Client" ma:index="16" nillable="true" ma:displayName="Client" ma:format="Dropdown" ma:internalName="Client">
      <xsd:simpleType>
        <xsd:restriction base="dms:Text">
          <xsd:maxLength value="20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a483c6-1744-4003-bbb3-3036ea46c136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2499140-3370-47ba-a799-a18fa0be8b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e647d-520c-4ff6-8539-83c5985202b8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a44ac133-57b7-4621-90c9-226ae3aa33d4}" ma:internalName="TaxCatchAll" ma:showField="CatchAllData" ma:web="ed2e647d-520c-4ff6-8539-83c5985202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a483c6-1744-4003-bbb3-3036ea46c136">
      <Terms xmlns="http://schemas.microsoft.com/office/infopath/2007/PartnerControls"/>
    </lcf76f155ced4ddcb4097134ff3c332f>
    <TaxCatchAll xmlns="ed2e647d-520c-4ff6-8539-83c5985202b8" xsi:nil="true"/>
    <Client xmlns="988c7490-3e4f-46c2-b372-db9ebde352f5" xsi:nil="true"/>
    <PM xmlns="988c7490-3e4f-46c2-b372-db9ebde352f5">
      <UserInfo>
        <DisplayName/>
        <AccountId xsi:nil="true"/>
        <AccountType/>
      </UserInfo>
    </PM>
  </documentManagement>
</p:properties>
</file>

<file path=customXml/itemProps1.xml><?xml version="1.0" encoding="utf-8"?>
<ds:datastoreItem xmlns:ds="http://schemas.openxmlformats.org/officeDocument/2006/customXml" ds:itemID="{18F8936E-D717-47C9-99A9-D475B7D87F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8c7490-3e4f-46c2-b372-db9ebde352f5"/>
    <ds:schemaRef ds:uri="83a483c6-1744-4003-bbb3-3036ea46c136"/>
    <ds:schemaRef ds:uri="ed2e647d-520c-4ff6-8539-83c5985202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87DBB2-1007-46D3-9BAD-334C94AC35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703284-185E-4D5B-9B7A-4784BFED8368}">
  <ds:schemaRefs>
    <ds:schemaRef ds:uri="http://schemas.microsoft.com/office/2006/metadata/properties"/>
    <ds:schemaRef ds:uri="http://schemas.microsoft.com/office/infopath/2007/PartnerControls"/>
    <ds:schemaRef ds:uri="83a483c6-1744-4003-bbb3-3036ea46c136"/>
    <ds:schemaRef ds:uri="ed2e647d-520c-4ff6-8539-83c5985202b8"/>
    <ds:schemaRef ds:uri="988c7490-3e4f-46c2-b372-db9ebde352f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525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Anthropic Sans</vt:lpstr>
      <vt:lpstr>Aptos</vt:lpstr>
      <vt:lpstr>Aptos Display</vt:lpstr>
      <vt:lpstr>Arial</vt:lpstr>
      <vt:lpstr>Office Theme</vt:lpstr>
      <vt:lpstr>SeabORD modelling</vt:lpstr>
      <vt:lpstr>Methods</vt:lpstr>
      <vt:lpstr>Methods – con’t</vt:lpstr>
      <vt:lpstr>Results</vt:lpstr>
      <vt:lpstr>Results</vt:lpstr>
      <vt:lpstr>Results</vt:lpstr>
      <vt:lpstr>Results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Trinder</dc:creator>
  <cp:lastModifiedBy>Dallas Jordan</cp:lastModifiedBy>
  <cp:revision>4</cp:revision>
  <dcterms:created xsi:type="dcterms:W3CDTF">2026-07-22T08:10:36Z</dcterms:created>
  <dcterms:modified xsi:type="dcterms:W3CDTF">2026-07-25T20:53:02Z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0x0101009ECCAB6487C57945818A25ED112AADB5</vt:lpwstr>
  </property>
</Properties>
</file>